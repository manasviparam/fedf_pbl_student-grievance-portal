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6" r:id="rId2"/>
    <p:sldId id="260" r:id="rId3"/>
    <p:sldId id="278" r:id="rId4"/>
    <p:sldId id="257" r:id="rId5"/>
    <p:sldId id="321" r:id="rId6"/>
    <p:sldId id="328" r:id="rId7"/>
    <p:sldId id="326" r:id="rId8"/>
    <p:sldId id="322" r:id="rId9"/>
    <p:sldId id="323" r:id="rId10"/>
    <p:sldId id="329" r:id="rId11"/>
    <p:sldId id="330" r:id="rId12"/>
    <p:sldId id="331" r:id="rId13"/>
    <p:sldId id="332" r:id="rId14"/>
    <p:sldId id="333" r:id="rId15"/>
    <p:sldId id="334" r:id="rId16"/>
    <p:sldId id="336" r:id="rId17"/>
    <p:sldId id="337" r:id="rId18"/>
    <p:sldId id="338" r:id="rId19"/>
    <p:sldId id="339" r:id="rId20"/>
    <p:sldId id="335" r:id="rId21"/>
    <p:sldId id="324" r:id="rId22"/>
    <p:sldId id="277" r:id="rId23"/>
    <p:sldId id="320" r:id="rId24"/>
    <p:sldId id="327" r:id="rId2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EFDAF1-3310-4CE7-9DD8-D8993F1BF7AC}" v="9" dt="2026-06-04T16:20:37.5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reactrouter.com/" TargetMode="External"/><Relationship Id="rId3" Type="http://schemas.openxmlformats.org/officeDocument/2006/relationships/hyperlink" Target="https://react.dev/" TargetMode="External"/><Relationship Id="rId7" Type="http://schemas.openxmlformats.org/officeDocument/2006/relationships/hyperlink" Target="https://vitejs.dev/"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dev.mysql.com/doc/" TargetMode="External"/><Relationship Id="rId5" Type="http://schemas.openxmlformats.org/officeDocument/2006/relationships/hyperlink" Target="https://expressjs.com/" TargetMode="External"/><Relationship Id="rId10" Type="http://schemas.openxmlformats.org/officeDocument/2006/relationships/hyperlink" Target="https://owasp.org/" TargetMode="External"/><Relationship Id="rId4" Type="http://schemas.openxmlformats.org/officeDocument/2006/relationships/hyperlink" Target="https://nodejs.org/en/docs" TargetMode="External"/><Relationship Id="rId9" Type="http://schemas.openxmlformats.org/officeDocument/2006/relationships/hyperlink" Target="https://developer.mozilla.or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Student Grievance Redressal Portal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32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4300" b="1" dirty="0">
                <a:solidFill>
                  <a:srgbClr val="00B0F0"/>
                </a:solidFill>
                <a:latin typeface="Times New Roman" pitchFamily="18" charset="0"/>
                <a:cs typeface="Times New Roman" pitchFamily="18" charset="0"/>
              </a:rPr>
              <a:t>By</a:t>
            </a:r>
          </a:p>
          <a:p>
            <a:pPr marR="0" algn="ctr" eaLnBrk="1" hangingPunct="1">
              <a:lnSpc>
                <a:spcPct val="80000"/>
              </a:lnSpc>
              <a:defRPr/>
            </a:pPr>
            <a:r>
              <a:rPr lang="en-US" sz="4300" dirty="0">
                <a:solidFill>
                  <a:srgbClr val="0D0D0D"/>
                </a:solidFill>
                <a:latin typeface="Times New Roman" pitchFamily="18" charset="0"/>
                <a:cs typeface="Times New Roman" pitchFamily="18" charset="0"/>
              </a:rPr>
              <a:t>Name : Param Manasvi                              roll: 2520030072</a:t>
            </a:r>
          </a:p>
          <a:p>
            <a:pPr marR="0" algn="ctr" eaLnBrk="1" hangingPunct="1">
              <a:lnSpc>
                <a:spcPct val="80000"/>
              </a:lnSpc>
              <a:defRPr/>
            </a:pPr>
            <a:endParaRPr lang="en-US" sz="4300" dirty="0">
              <a:solidFill>
                <a:srgbClr val="0D0D0D"/>
              </a:solidFill>
              <a:latin typeface="Times New Roman" pitchFamily="18" charset="0"/>
              <a:cs typeface="Times New Roman" pitchFamily="18" charset="0"/>
            </a:endParaRPr>
          </a:p>
          <a:p>
            <a:pPr marR="0" algn="ctr" eaLnBrk="1" hangingPunct="1">
              <a:lnSpc>
                <a:spcPct val="80000"/>
              </a:lnSpc>
              <a:defRPr/>
            </a:pPr>
            <a:r>
              <a:rPr lang="en-US" sz="4300" dirty="0">
                <a:solidFill>
                  <a:srgbClr val="0D0D0D"/>
                </a:solidFill>
                <a:latin typeface="Times New Roman" pitchFamily="18" charset="0"/>
                <a:cs typeface="Times New Roman" pitchFamily="18" charset="0"/>
              </a:rPr>
              <a:t>Name : Burla Vida Swetha                        roll: 2520030100</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Pavitra Duggineni</a:t>
            </a:r>
          </a:p>
          <a:p>
            <a:pPr marR="0" algn="ctr" eaLnBrk="1" hangingPunct="1">
              <a:lnSpc>
                <a:spcPct val="80000"/>
              </a:lnSpc>
              <a:defRPr/>
            </a:pPr>
            <a:endParaRPr lang="en-US" sz="34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0107" y="400475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
        <p:nvSpPr>
          <p:cNvPr id="6" name="Rectangle 2">
            <a:extLst>
              <a:ext uri="{FF2B5EF4-FFF2-40B4-BE49-F238E27FC236}">
                <a16:creationId xmlns:a16="http://schemas.microsoft.com/office/drawing/2014/main" id="{584388E0-886E-5D20-9674-566B35C2859E}"/>
              </a:ext>
            </a:extLst>
          </p:cNvPr>
          <p:cNvSpPr>
            <a:spLocks noGrp="1" noChangeArrowheads="1"/>
          </p:cNvSpPr>
          <p:nvPr>
            <p:ph idx="1"/>
          </p:nvPr>
        </p:nvSpPr>
        <p:spPr bwMode="auto">
          <a:xfrm>
            <a:off x="455908" y="1182231"/>
            <a:ext cx="83820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Student Grievance Redressal Portal is a full web-based platform that allows students to submit grievances, officers to review and resolve complaints, and administrators to monitor the entire grievance resolution process. It is built using React.js, Node.js, Express.js, and MySQL. The system provides a centralized platform for grievance registration, status tracking, officer assignment, and resolution management. Features such as role-based dashboards, grievance tracking, real-time synchronization between users, secure data storage, and administrative monitoring improve transparency and efficiency in handling student complaints. The platform eliminates manual grievance processing and provides a structured workflow for students, officers, and administrators.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
        <p:nvSpPr>
          <p:cNvPr id="4" name="Rectangle 1">
            <a:extLst>
              <a:ext uri="{FF2B5EF4-FFF2-40B4-BE49-F238E27FC236}">
                <a16:creationId xmlns:a16="http://schemas.microsoft.com/office/drawing/2014/main" id="{2BC4A1AA-61B3-372D-520E-643C1CC4B9BD}"/>
              </a:ext>
            </a:extLst>
          </p:cNvPr>
          <p:cNvSpPr>
            <a:spLocks noGrp="1" noChangeArrowheads="1"/>
          </p:cNvSpPr>
          <p:nvPr>
            <p:ph idx="1"/>
          </p:nvPr>
        </p:nvSpPr>
        <p:spPr bwMode="auto">
          <a:xfrm>
            <a:off x="457200" y="1520785"/>
            <a:ext cx="82296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Educational institutions receive various grievances related to academics, infrastructure, hostel facilities, examinations, and administration. Traditional grievance handling methods often involve paperwork, delayed responses, and lack of transparency.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Student Grievance Redressal Portal addresses these challenges by providing a centralized web-based platform where students can submit grievances, track complaint status, and receive updates. Officers can manage and resolve grievances efficiently, while administrators can monitor the overall grievance handling process. The system improves communication, accountability, and transparency within the institution.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
        <p:nvSpPr>
          <p:cNvPr id="6" name="Rectangle 2">
            <a:extLst>
              <a:ext uri="{FF2B5EF4-FFF2-40B4-BE49-F238E27FC236}">
                <a16:creationId xmlns:a16="http://schemas.microsoft.com/office/drawing/2014/main" id="{FBED6051-2575-82E9-105F-3729CDAA6BBF}"/>
              </a:ext>
            </a:extLst>
          </p:cNvPr>
          <p:cNvSpPr>
            <a:spLocks noGrp="1" noChangeArrowheads="1"/>
          </p:cNvSpPr>
          <p:nvPr>
            <p:ph idx="1"/>
          </p:nvPr>
        </p:nvSpPr>
        <p:spPr bwMode="auto">
          <a:xfrm>
            <a:off x="571500" y="962085"/>
            <a:ext cx="8001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Student grievances are often managed through manual procedures such as written applications, emails, or direct reporting. These approaches make it difficult to track complaint status, maintain records, and ensure timely resolution. Students frequently lack visibility into grievance progress, while administrators face challenges in monitoring grievance handling activities.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Student Grievance Redressal Portal aims to solve these issues by providing a centralized system with grievance submission, status tracking, officer management, administrative monitoring, and secure database storage to improve efficiency and transparency.</a:t>
            </a:r>
          </a:p>
        </p:txBody>
      </p:sp>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D9BEB-2929-BD18-0958-CE518C5F8B60}"/>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0FE43119-C942-6AAC-484B-1C26354A2409}"/>
              </a:ext>
            </a:extLst>
          </p:cNvPr>
          <p:cNvPicPr>
            <a:picLocks noGrp="1" noChangeAspect="1"/>
          </p:cNvPicPr>
          <p:nvPr>
            <p:ph idx="1"/>
          </p:nvPr>
        </p:nvPicPr>
        <p:blipFill>
          <a:blip r:embed="rId2"/>
          <a:stretch>
            <a:fillRect/>
          </a:stretch>
        </p:blipFill>
        <p:spPr>
          <a:xfrm>
            <a:off x="228600" y="1219200"/>
            <a:ext cx="8305799" cy="5334000"/>
          </a:xfrm>
          <a:prstGeom prst="rect">
            <a:avLst/>
          </a:prstGeom>
        </p:spPr>
      </p:pic>
      <p:pic>
        <p:nvPicPr>
          <p:cNvPr id="4" name="Picture 3">
            <a:extLst>
              <a:ext uri="{FF2B5EF4-FFF2-40B4-BE49-F238E27FC236}">
                <a16:creationId xmlns:a16="http://schemas.microsoft.com/office/drawing/2014/main" id="{8ED747D3-1231-563F-B48E-66C322277A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
        <p:nvSpPr>
          <p:cNvPr id="6" name="Title 5">
            <a:extLst>
              <a:ext uri="{FF2B5EF4-FFF2-40B4-BE49-F238E27FC236}">
                <a16:creationId xmlns:a16="http://schemas.microsoft.com/office/drawing/2014/main" id="{5A64B913-966D-301D-8ADD-29C4F7ACF958}"/>
              </a:ext>
            </a:extLst>
          </p:cNvPr>
          <p:cNvSpPr>
            <a:spLocks noGrp="1"/>
          </p:cNvSpPr>
          <p:nvPr>
            <p:ph type="title"/>
          </p:nvPr>
        </p:nvSpPr>
        <p:spPr>
          <a:xfrm>
            <a:off x="457200" y="228598"/>
            <a:ext cx="8229600" cy="1189039"/>
          </a:xfrm>
        </p:spPr>
        <p:txBody>
          <a:bodyPr/>
          <a:lstStyle/>
          <a:p>
            <a:r>
              <a:rPr lang="en-IN" dirty="0"/>
              <a:t>System Architecture</a:t>
            </a:r>
          </a:p>
        </p:txBody>
      </p:sp>
    </p:spTree>
    <p:extLst>
      <p:ext uri="{BB962C8B-B14F-4D97-AF65-F5344CB8AC3E}">
        <p14:creationId xmlns:p14="http://schemas.microsoft.com/office/powerpoint/2010/main" val="3336353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a:xfrm>
            <a:off x="457200" y="-228600"/>
            <a:ext cx="8229600" cy="1646238"/>
          </a:xfrm>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6" name="Content Placeholder 5">
            <a:extLst>
              <a:ext uri="{FF2B5EF4-FFF2-40B4-BE49-F238E27FC236}">
                <a16:creationId xmlns:a16="http://schemas.microsoft.com/office/drawing/2014/main" id="{570155B0-BD19-E312-23B4-472E90D84B0D}"/>
              </a:ext>
            </a:extLst>
          </p:cNvPr>
          <p:cNvPicPr>
            <a:picLocks noGrp="1" noChangeAspect="1"/>
          </p:cNvPicPr>
          <p:nvPr>
            <p:ph idx="1"/>
          </p:nvPr>
        </p:nvPicPr>
        <p:blipFill>
          <a:blip r:embed="rId2"/>
          <a:stretch>
            <a:fillRect/>
          </a:stretch>
        </p:blipFill>
        <p:spPr>
          <a:xfrm>
            <a:off x="282974" y="914400"/>
            <a:ext cx="8578052" cy="5287963"/>
          </a:xfrm>
          <a:prstGeom prst="rect">
            <a:avLst/>
          </a:prstGeo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6" name="Content Placeholder 5">
            <a:extLst>
              <a:ext uri="{FF2B5EF4-FFF2-40B4-BE49-F238E27FC236}">
                <a16:creationId xmlns:a16="http://schemas.microsoft.com/office/drawing/2014/main" id="{1DE58CDD-FCB0-8955-F5E5-CEB6D27F8BAD}"/>
              </a:ext>
            </a:extLst>
          </p:cNvPr>
          <p:cNvPicPr>
            <a:picLocks noGrp="1" noChangeAspect="1"/>
          </p:cNvPicPr>
          <p:nvPr>
            <p:ph idx="1"/>
          </p:nvPr>
        </p:nvPicPr>
        <p:blipFill>
          <a:blip r:embed="rId2"/>
          <a:stretch>
            <a:fillRect/>
          </a:stretch>
        </p:blipFill>
        <p:spPr>
          <a:xfrm>
            <a:off x="228600" y="1295400"/>
            <a:ext cx="8686800" cy="5119685"/>
          </a:xfrm>
          <a:prstGeom prst="rect">
            <a:avLst/>
          </a:prstGeom>
        </p:spPr>
      </p:pic>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6" name="Content Placeholder 5">
            <a:extLst>
              <a:ext uri="{FF2B5EF4-FFF2-40B4-BE49-F238E27FC236}">
                <a16:creationId xmlns:a16="http://schemas.microsoft.com/office/drawing/2014/main" id="{9BBB379A-728D-15DC-0F9F-7AE5584EA146}"/>
              </a:ext>
            </a:extLst>
          </p:cNvPr>
          <p:cNvPicPr>
            <a:picLocks noGrp="1" noChangeAspect="1"/>
          </p:cNvPicPr>
          <p:nvPr>
            <p:ph idx="1"/>
          </p:nvPr>
        </p:nvPicPr>
        <p:blipFill>
          <a:blip r:embed="rId2"/>
          <a:stretch>
            <a:fillRect/>
          </a:stretch>
        </p:blipFill>
        <p:spPr>
          <a:xfrm>
            <a:off x="419100" y="1295400"/>
            <a:ext cx="8305800" cy="4906963"/>
          </a:xfrm>
          <a:prstGeom prst="rect">
            <a:avLst/>
          </a:prstGeom>
        </p:spPr>
      </p:pic>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3F0D-8011-5F75-B0A7-4843B56DCB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26357-72B7-A0E1-BAC5-DB0F141CC1EC}"/>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A1C94466-0DAC-2230-C13B-9B37D5402F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10" name="Content Placeholder 9">
            <a:extLst>
              <a:ext uri="{FF2B5EF4-FFF2-40B4-BE49-F238E27FC236}">
                <a16:creationId xmlns:a16="http://schemas.microsoft.com/office/drawing/2014/main" id="{72CD37E7-53EE-1F99-2B0F-DB3589056340}"/>
              </a:ext>
            </a:extLst>
          </p:cNvPr>
          <p:cNvPicPr>
            <a:picLocks noGrp="1" noChangeAspect="1"/>
          </p:cNvPicPr>
          <p:nvPr>
            <p:ph idx="1"/>
          </p:nvPr>
        </p:nvPicPr>
        <p:blipFill>
          <a:blip r:embed="rId3"/>
          <a:stretch>
            <a:fillRect/>
          </a:stretch>
        </p:blipFill>
        <p:spPr>
          <a:xfrm>
            <a:off x="1676400" y="1434420"/>
            <a:ext cx="5791199" cy="4906963"/>
          </a:xfrm>
          <a:prstGeom prst="rect">
            <a:avLst/>
          </a:prstGeom>
        </p:spPr>
      </p:pic>
    </p:spTree>
    <p:extLst>
      <p:ext uri="{BB962C8B-B14F-4D97-AF65-F5344CB8AC3E}">
        <p14:creationId xmlns:p14="http://schemas.microsoft.com/office/powerpoint/2010/main" val="2487236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00A56-C735-6731-BD70-D7E1A7955C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1D14F8-0E24-A84C-26BC-A20AE6674CF2}"/>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1F926F65-147D-9C91-9062-3C7B458905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10" name="Content Placeholder 9">
            <a:extLst>
              <a:ext uri="{FF2B5EF4-FFF2-40B4-BE49-F238E27FC236}">
                <a16:creationId xmlns:a16="http://schemas.microsoft.com/office/drawing/2014/main" id="{BD3AA269-E09A-68B0-6E17-B7302DEEC0D0}"/>
              </a:ext>
            </a:extLst>
          </p:cNvPr>
          <p:cNvPicPr>
            <a:picLocks noGrp="1" noChangeAspect="1"/>
          </p:cNvPicPr>
          <p:nvPr>
            <p:ph idx="1"/>
          </p:nvPr>
        </p:nvPicPr>
        <p:blipFill>
          <a:blip r:embed="rId3"/>
          <a:stretch>
            <a:fillRect/>
          </a:stretch>
        </p:blipFill>
        <p:spPr>
          <a:xfrm>
            <a:off x="228600" y="1676400"/>
            <a:ext cx="8665029" cy="4495800"/>
          </a:xfrm>
          <a:prstGeom prst="rect">
            <a:avLst/>
          </a:prstGeom>
        </p:spPr>
      </p:pic>
    </p:spTree>
    <p:extLst>
      <p:ext uri="{BB962C8B-B14F-4D97-AF65-F5344CB8AC3E}">
        <p14:creationId xmlns:p14="http://schemas.microsoft.com/office/powerpoint/2010/main" val="599501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BDCA-264B-F3C6-88A9-503FCE844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72D94-19AE-D0FD-9C0A-958C9E6DE23D}"/>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5CDE6DC7-A4DE-3C6D-A86E-E8D3930B2B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6" name="Content Placeholder 5">
            <a:extLst>
              <a:ext uri="{FF2B5EF4-FFF2-40B4-BE49-F238E27FC236}">
                <a16:creationId xmlns:a16="http://schemas.microsoft.com/office/drawing/2014/main" id="{FCA8646F-A2B2-FF23-680E-8CCD769A4CA5}"/>
              </a:ext>
            </a:extLst>
          </p:cNvPr>
          <p:cNvPicPr>
            <a:picLocks noGrp="1" noChangeAspect="1"/>
          </p:cNvPicPr>
          <p:nvPr>
            <p:ph idx="1"/>
          </p:nvPr>
        </p:nvPicPr>
        <p:blipFill>
          <a:blip r:embed="rId3"/>
          <a:stretch>
            <a:fillRect/>
          </a:stretch>
        </p:blipFill>
        <p:spPr>
          <a:xfrm>
            <a:off x="228600" y="1752600"/>
            <a:ext cx="8610600" cy="4343400"/>
          </a:xfrm>
          <a:prstGeom prst="rect">
            <a:avLst/>
          </a:prstGeom>
        </p:spPr>
      </p:pic>
    </p:spTree>
    <p:extLst>
      <p:ext uri="{BB962C8B-B14F-4D97-AF65-F5344CB8AC3E}">
        <p14:creationId xmlns:p14="http://schemas.microsoft.com/office/powerpoint/2010/main" val="645938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4F2CD-AD34-7B6B-D7D7-28C0EBBD9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104B7-CC00-4FBA-82F1-76D8A3C5707B}"/>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4F6D6046-5814-919B-3CE4-397497AECA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6" name="Content Placeholder 5">
            <a:extLst>
              <a:ext uri="{FF2B5EF4-FFF2-40B4-BE49-F238E27FC236}">
                <a16:creationId xmlns:a16="http://schemas.microsoft.com/office/drawing/2014/main" id="{419EBB51-6424-39F8-70A1-18A37FEF4A0B}"/>
              </a:ext>
            </a:extLst>
          </p:cNvPr>
          <p:cNvPicPr>
            <a:picLocks noGrp="1" noChangeAspect="1"/>
          </p:cNvPicPr>
          <p:nvPr>
            <p:ph idx="1"/>
          </p:nvPr>
        </p:nvPicPr>
        <p:blipFill>
          <a:blip r:embed="rId3"/>
          <a:stretch>
            <a:fillRect/>
          </a:stretch>
        </p:blipFill>
        <p:spPr>
          <a:xfrm>
            <a:off x="457200" y="2023422"/>
            <a:ext cx="8305800" cy="3996378"/>
          </a:xfrm>
          <a:prstGeom prst="rect">
            <a:avLst/>
          </a:prstGeom>
        </p:spPr>
      </p:pic>
    </p:spTree>
    <p:extLst>
      <p:ext uri="{BB962C8B-B14F-4D97-AF65-F5344CB8AC3E}">
        <p14:creationId xmlns:p14="http://schemas.microsoft.com/office/powerpoint/2010/main" val="2205842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9D25D-2053-A057-EF48-FAE666F94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EE058-403B-2111-2728-FF49C88AF4A1}"/>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E92AFEF1-BC10-6C7D-2F4A-E96B691A42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8" name="Content Placeholder 7">
            <a:extLst>
              <a:ext uri="{FF2B5EF4-FFF2-40B4-BE49-F238E27FC236}">
                <a16:creationId xmlns:a16="http://schemas.microsoft.com/office/drawing/2014/main" id="{56AC6FC9-AA89-B4AE-95A0-8F6FC3DC4402}"/>
              </a:ext>
            </a:extLst>
          </p:cNvPr>
          <p:cNvPicPr>
            <a:picLocks noGrp="1" noChangeAspect="1"/>
          </p:cNvPicPr>
          <p:nvPr>
            <p:ph idx="1"/>
          </p:nvPr>
        </p:nvPicPr>
        <p:blipFill>
          <a:blip r:embed="rId3"/>
          <a:stretch>
            <a:fillRect/>
          </a:stretch>
        </p:blipFill>
        <p:spPr>
          <a:xfrm>
            <a:off x="304800" y="1600200"/>
            <a:ext cx="8534400" cy="4419600"/>
          </a:xfrm>
          <a:prstGeom prst="rect">
            <a:avLst/>
          </a:prstGeom>
        </p:spPr>
      </p:pic>
    </p:spTree>
    <p:extLst>
      <p:ext uri="{BB962C8B-B14F-4D97-AF65-F5344CB8AC3E}">
        <p14:creationId xmlns:p14="http://schemas.microsoft.com/office/powerpoint/2010/main" val="1155050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4F35D-321E-290E-21DF-F0A3121FA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33010-1B74-265B-51DE-BDDD48021033}"/>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A6699706-E7CD-0D51-E900-636492E5A7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6" name="Content Placeholder 5">
            <a:extLst>
              <a:ext uri="{FF2B5EF4-FFF2-40B4-BE49-F238E27FC236}">
                <a16:creationId xmlns:a16="http://schemas.microsoft.com/office/drawing/2014/main" id="{E205F593-7BD1-C613-60C0-129ACF5CDBE6}"/>
              </a:ext>
            </a:extLst>
          </p:cNvPr>
          <p:cNvPicPr>
            <a:picLocks noGrp="1" noChangeAspect="1"/>
          </p:cNvPicPr>
          <p:nvPr>
            <p:ph idx="1"/>
          </p:nvPr>
        </p:nvPicPr>
        <p:blipFill>
          <a:blip r:embed="rId3"/>
          <a:stretch>
            <a:fillRect/>
          </a:stretch>
        </p:blipFill>
        <p:spPr>
          <a:xfrm>
            <a:off x="228601" y="1600200"/>
            <a:ext cx="8670348" cy="4419600"/>
          </a:xfrm>
          <a:prstGeom prst="rect">
            <a:avLst/>
          </a:prstGeom>
        </p:spPr>
      </p:pic>
    </p:spTree>
    <p:extLst>
      <p:ext uri="{BB962C8B-B14F-4D97-AF65-F5344CB8AC3E}">
        <p14:creationId xmlns:p14="http://schemas.microsoft.com/office/powerpoint/2010/main" val="635617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DD4ED-9101-DD0F-44D5-7FF8B3BC5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B5275-FA20-BCDE-5CC7-86FAA754A02A}"/>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D6E36A09-AD8F-886F-3724-C746EE4109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8" name="Content Placeholder 7">
            <a:extLst>
              <a:ext uri="{FF2B5EF4-FFF2-40B4-BE49-F238E27FC236}">
                <a16:creationId xmlns:a16="http://schemas.microsoft.com/office/drawing/2014/main" id="{0DD68347-8425-39D8-A270-6F90ADAFEF0C}"/>
              </a:ext>
            </a:extLst>
          </p:cNvPr>
          <p:cNvPicPr>
            <a:picLocks noGrp="1" noChangeAspect="1"/>
          </p:cNvPicPr>
          <p:nvPr>
            <p:ph idx="1"/>
          </p:nvPr>
        </p:nvPicPr>
        <p:blipFill>
          <a:blip r:embed="rId3"/>
          <a:stretch>
            <a:fillRect/>
          </a:stretch>
        </p:blipFill>
        <p:spPr>
          <a:xfrm>
            <a:off x="228600" y="1524000"/>
            <a:ext cx="8534400" cy="4495800"/>
          </a:xfrm>
          <a:prstGeom prst="rect">
            <a:avLst/>
          </a:prstGeom>
        </p:spPr>
      </p:pic>
    </p:spTree>
    <p:extLst>
      <p:ext uri="{BB962C8B-B14F-4D97-AF65-F5344CB8AC3E}">
        <p14:creationId xmlns:p14="http://schemas.microsoft.com/office/powerpoint/2010/main" val="1652738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2487A-A011-41C8-A592-44BADFE01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3093D-B9C4-B557-BED0-6E0B7C7EB07B}"/>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C02F7734-0ECB-C6BA-F657-A235B6ADBD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6" name="Content Placeholder 5">
            <a:extLst>
              <a:ext uri="{FF2B5EF4-FFF2-40B4-BE49-F238E27FC236}">
                <a16:creationId xmlns:a16="http://schemas.microsoft.com/office/drawing/2014/main" id="{6E1E57FF-5215-F5E3-8036-8607E7FB3A9A}"/>
              </a:ext>
            </a:extLst>
          </p:cNvPr>
          <p:cNvPicPr>
            <a:picLocks noGrp="1" noChangeAspect="1"/>
          </p:cNvPicPr>
          <p:nvPr>
            <p:ph idx="1"/>
          </p:nvPr>
        </p:nvPicPr>
        <p:blipFill>
          <a:blip r:embed="rId3"/>
          <a:stretch>
            <a:fillRect/>
          </a:stretch>
        </p:blipFill>
        <p:spPr>
          <a:xfrm>
            <a:off x="381000" y="1752601"/>
            <a:ext cx="8458200" cy="4191000"/>
          </a:xfrm>
          <a:prstGeom prst="rect">
            <a:avLst/>
          </a:prstGeom>
        </p:spPr>
      </p:pic>
    </p:spTree>
    <p:extLst>
      <p:ext uri="{BB962C8B-B14F-4D97-AF65-F5344CB8AC3E}">
        <p14:creationId xmlns:p14="http://schemas.microsoft.com/office/powerpoint/2010/main" val="1548279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9E1E2-EDB6-0D3C-D582-2F4FCBBEE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F8C41-EAB3-9BDC-ED08-70FE81A0BB94}"/>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81328C80-0E96-36D3-F16C-5EEB35A41B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6" name="Content Placeholder 5">
            <a:extLst>
              <a:ext uri="{FF2B5EF4-FFF2-40B4-BE49-F238E27FC236}">
                <a16:creationId xmlns:a16="http://schemas.microsoft.com/office/drawing/2014/main" id="{FB9FC4CF-A763-4B7C-0E91-832275481C7B}"/>
              </a:ext>
            </a:extLst>
          </p:cNvPr>
          <p:cNvPicPr>
            <a:picLocks noGrp="1" noChangeAspect="1"/>
          </p:cNvPicPr>
          <p:nvPr>
            <p:ph idx="1"/>
          </p:nvPr>
        </p:nvPicPr>
        <p:blipFill>
          <a:blip r:embed="rId3"/>
          <a:stretch>
            <a:fillRect/>
          </a:stretch>
        </p:blipFill>
        <p:spPr>
          <a:xfrm>
            <a:off x="228600" y="1752600"/>
            <a:ext cx="8610600" cy="4343399"/>
          </a:xfrm>
          <a:prstGeom prst="rect">
            <a:avLst/>
          </a:prstGeom>
        </p:spPr>
      </p:pic>
    </p:spTree>
    <p:extLst>
      <p:ext uri="{BB962C8B-B14F-4D97-AF65-F5344CB8AC3E}">
        <p14:creationId xmlns:p14="http://schemas.microsoft.com/office/powerpoint/2010/main" val="3034729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BFCCE-0BE3-6907-6FDA-0705D1F597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97C33-D9E1-17A8-9DDA-5C127B022CE5}"/>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672574E1-C138-44B0-E617-02E2F6CBDC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6" name="Content Placeholder 5">
            <a:extLst>
              <a:ext uri="{FF2B5EF4-FFF2-40B4-BE49-F238E27FC236}">
                <a16:creationId xmlns:a16="http://schemas.microsoft.com/office/drawing/2014/main" id="{4D4ECB20-76F8-78F6-F59A-2CC1065D8C03}"/>
              </a:ext>
            </a:extLst>
          </p:cNvPr>
          <p:cNvPicPr>
            <a:picLocks noGrp="1" noChangeAspect="1"/>
          </p:cNvPicPr>
          <p:nvPr>
            <p:ph idx="1"/>
          </p:nvPr>
        </p:nvPicPr>
        <p:blipFill>
          <a:blip r:embed="rId3"/>
          <a:stretch>
            <a:fillRect/>
          </a:stretch>
        </p:blipFill>
        <p:spPr>
          <a:xfrm>
            <a:off x="152400" y="1401762"/>
            <a:ext cx="8763000" cy="4694237"/>
          </a:xfrm>
          <a:prstGeom prst="rect">
            <a:avLst/>
          </a:prstGeom>
        </p:spPr>
      </p:pic>
    </p:spTree>
    <p:extLst>
      <p:ext uri="{BB962C8B-B14F-4D97-AF65-F5344CB8AC3E}">
        <p14:creationId xmlns:p14="http://schemas.microsoft.com/office/powerpoint/2010/main" val="2264073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EEC4E-8226-7696-E318-069A65197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AC0B3-335B-4631-8EE9-6F016E616F5B}"/>
              </a:ext>
            </a:extLst>
          </p:cNvPr>
          <p:cNvSpPr>
            <a:spLocks noGrp="1"/>
          </p:cNvSpPr>
          <p:nvPr>
            <p:ph type="title"/>
          </p:nvPr>
        </p:nvSpPr>
        <p:spPr>
          <a:xfrm>
            <a:off x="228600" y="259555"/>
            <a:ext cx="8763000" cy="944562"/>
          </a:xfrm>
        </p:spPr>
        <p:txBody>
          <a:bodyPr>
            <a:normAutofit/>
          </a:bodyPr>
          <a:lstStyle/>
          <a:p>
            <a:r>
              <a:rPr lang="en-US" sz="2800" b="1" dirty="0">
                <a:solidFill>
                  <a:srgbClr val="0070C0"/>
                </a:solidFill>
                <a:latin typeface="Times New Roman" pitchFamily="18" charset="0"/>
                <a:cs typeface="Times New Roman" pitchFamily="18" charset="0"/>
              </a:rPr>
              <a:t>Co’s Mapping</a:t>
            </a:r>
          </a:p>
        </p:txBody>
      </p:sp>
      <p:pic>
        <p:nvPicPr>
          <p:cNvPr id="4" name="Picture 3">
            <a:extLst>
              <a:ext uri="{FF2B5EF4-FFF2-40B4-BE49-F238E27FC236}">
                <a16:creationId xmlns:a16="http://schemas.microsoft.com/office/drawing/2014/main" id="{B9CD90B6-7D86-7A7F-756E-EE2AAE73FB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6" name="Content Placeholder 5">
            <a:extLst>
              <a:ext uri="{FF2B5EF4-FFF2-40B4-BE49-F238E27FC236}">
                <a16:creationId xmlns:a16="http://schemas.microsoft.com/office/drawing/2014/main" id="{DABA602D-8055-6B76-8BA2-0B8AF37BD145}"/>
              </a:ext>
            </a:extLst>
          </p:cNvPr>
          <p:cNvPicPr>
            <a:picLocks noGrp="1" noChangeAspect="1"/>
          </p:cNvPicPr>
          <p:nvPr>
            <p:ph idx="1"/>
          </p:nvPr>
        </p:nvPicPr>
        <p:blipFill>
          <a:blip r:embed="rId3"/>
          <a:stretch>
            <a:fillRect/>
          </a:stretch>
        </p:blipFill>
        <p:spPr>
          <a:xfrm>
            <a:off x="266700" y="1447800"/>
            <a:ext cx="8610600" cy="4770437"/>
          </a:xfrm>
          <a:prstGeom prst="rect">
            <a:avLst/>
          </a:prstGeom>
        </p:spPr>
      </p:pic>
    </p:spTree>
    <p:extLst>
      <p:ext uri="{BB962C8B-B14F-4D97-AF65-F5344CB8AC3E}">
        <p14:creationId xmlns:p14="http://schemas.microsoft.com/office/powerpoint/2010/main" val="3653733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838200"/>
            <a:ext cx="7162800" cy="304800"/>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
        <p:nvSpPr>
          <p:cNvPr id="7" name="Rectangle 3">
            <a:extLst>
              <a:ext uri="{FF2B5EF4-FFF2-40B4-BE49-F238E27FC236}">
                <a16:creationId xmlns:a16="http://schemas.microsoft.com/office/drawing/2014/main" id="{E49E9224-832C-884E-CB77-7E5D225306DB}"/>
              </a:ext>
            </a:extLst>
          </p:cNvPr>
          <p:cNvSpPr>
            <a:spLocks noGrp="1" noChangeArrowheads="1"/>
          </p:cNvSpPr>
          <p:nvPr>
            <p:ph idx="1"/>
          </p:nvPr>
        </p:nvSpPr>
        <p:spPr bwMode="auto">
          <a:xfrm>
            <a:off x="475129" y="1143000"/>
            <a:ext cx="82296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Faster grievance registration and processing.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Improved transparency in grievance resolution.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Centralized storage of grievance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Efficient communication between students and officers.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Arial" panose="020B0604020202020204" pitchFamily="34" charset="0"/>
              </a:rPr>
              <a:t>S</a:t>
            </a:r>
            <a:r>
              <a:rPr kumimoji="0" lang="en-US" altLang="en-US" sz="2400" b="0" i="0" u="none" strike="noStrike" cap="none" normalizeH="0" baseline="0" dirty="0">
                <a:ln>
                  <a:noFill/>
                </a:ln>
                <a:solidFill>
                  <a:schemeClr val="tx1"/>
                </a:solidFill>
                <a:effectLst/>
                <a:latin typeface="Arial" panose="020B0604020202020204" pitchFamily="34" charset="0"/>
              </a:rPr>
              <a:t>tatus tracking for submitted grievances.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Reduced administrative workload and paperwork.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Better monitoring and reporting capabilities for administrators.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Secure storage and retrieval of grievance information using MySQL.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Scalable architecture supporting future institutional requirements. </a:t>
            </a:r>
          </a:p>
        </p:txBody>
      </p:sp>
    </p:spTree>
    <p:extLst>
      <p:ext uri="{BB962C8B-B14F-4D97-AF65-F5344CB8AC3E}">
        <p14:creationId xmlns:p14="http://schemas.microsoft.com/office/powerpoint/2010/main" val="2610488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27818"/>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4" name="Rectangle 1">
            <a:extLst>
              <a:ext uri="{FF2B5EF4-FFF2-40B4-BE49-F238E27FC236}">
                <a16:creationId xmlns:a16="http://schemas.microsoft.com/office/drawing/2014/main" id="{3C5D06CD-7C97-C3C2-265A-534A8DB33D00}"/>
              </a:ext>
            </a:extLst>
          </p:cNvPr>
          <p:cNvSpPr>
            <a:spLocks noGrp="1" noChangeArrowheads="1"/>
          </p:cNvSpPr>
          <p:nvPr>
            <p:ph idx="1"/>
          </p:nvPr>
        </p:nvSpPr>
        <p:spPr bwMode="auto">
          <a:xfrm>
            <a:off x="533400" y="1295400"/>
            <a:ext cx="76962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Student Grievance Redressal Portal provides a centralized, secure, and user-friendly platform for managing student grievances. The system supports grievance submission, status tracking, officer management, administrative monitoring, and database-backed record maintenance. Built using React.js, Node.js, Express.js, and MySQL, the platform improves grievance resolution efficiency, transparency, and accountability while reducing manual effort.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Future enhancements may include email and SMS notifications, mobile application support, AI-based grievance categorization, advanced analytics dashboards, document upload functionality, and integration with institutional ERP systems.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
        <p:nvSpPr>
          <p:cNvPr id="4" name="Rectangle 2">
            <a:extLst>
              <a:ext uri="{FF2B5EF4-FFF2-40B4-BE49-F238E27FC236}">
                <a16:creationId xmlns:a16="http://schemas.microsoft.com/office/drawing/2014/main" id="{FABF9159-E2B8-040C-D6B2-058AAF5A9BDD}"/>
              </a:ext>
            </a:extLst>
          </p:cNvPr>
          <p:cNvSpPr>
            <a:spLocks noGrp="1" noChangeArrowheads="1"/>
          </p:cNvSpPr>
          <p:nvPr>
            <p:ph idx="1"/>
          </p:nvPr>
        </p:nvSpPr>
        <p:spPr bwMode="auto">
          <a:xfrm>
            <a:off x="447040" y="2051282"/>
            <a:ext cx="85344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React.js Documentation — </a:t>
            </a:r>
            <a:r>
              <a:rPr kumimoji="0" lang="en-US" altLang="en-US" sz="2200" b="0" i="0" u="none" strike="noStrike" cap="none" normalizeH="0" baseline="0" dirty="0">
                <a:ln>
                  <a:noFill/>
                </a:ln>
                <a:solidFill>
                  <a:schemeClr val="tx1"/>
                </a:solidFill>
                <a:effectLst/>
                <a:latin typeface="Arial" panose="020B0604020202020204" pitchFamily="34" charset="0"/>
                <a:hlinkClick r:id="rId3"/>
              </a:rPr>
              <a:t>https://react.dev/</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Node.js Documentation — </a:t>
            </a:r>
            <a:r>
              <a:rPr kumimoji="0" lang="en-US" altLang="en-US" sz="2200" b="0" i="0" u="none" strike="noStrike" cap="none" normalizeH="0" baseline="0" dirty="0">
                <a:ln>
                  <a:noFill/>
                </a:ln>
                <a:solidFill>
                  <a:schemeClr val="tx1"/>
                </a:solidFill>
                <a:effectLst/>
                <a:latin typeface="Arial" panose="020B0604020202020204" pitchFamily="34" charset="0"/>
                <a:hlinkClick r:id="rId4"/>
              </a:rPr>
              <a:t>https://nodejs.org/en/docs</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Express.js Documentation — </a:t>
            </a:r>
            <a:r>
              <a:rPr kumimoji="0" lang="en-US" altLang="en-US" sz="2200" b="0" i="0" u="none" strike="noStrike" cap="none" normalizeH="0" baseline="0" dirty="0">
                <a:ln>
                  <a:noFill/>
                </a:ln>
                <a:solidFill>
                  <a:schemeClr val="tx1"/>
                </a:solidFill>
                <a:effectLst/>
                <a:latin typeface="Arial" panose="020B0604020202020204" pitchFamily="34" charset="0"/>
                <a:hlinkClick r:id="rId5"/>
              </a:rPr>
              <a:t>https://expressjs.com/</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MySQL 8.0 Reference Manual — </a:t>
            </a:r>
            <a:r>
              <a:rPr kumimoji="0" lang="en-US" altLang="en-US" sz="2200" b="0" i="0" u="none" strike="noStrike" cap="none" normalizeH="0" baseline="0" dirty="0">
                <a:ln>
                  <a:noFill/>
                </a:ln>
                <a:solidFill>
                  <a:schemeClr val="tx1"/>
                </a:solidFill>
                <a:effectLst/>
                <a:latin typeface="Arial" panose="020B0604020202020204" pitchFamily="34" charset="0"/>
                <a:hlinkClick r:id="rId6"/>
              </a:rPr>
              <a:t>https://dev.mysql.com/doc/</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Vite Documentation — </a:t>
            </a:r>
            <a:r>
              <a:rPr kumimoji="0" lang="en-US" altLang="en-US" sz="2200" b="0" i="0" u="none" strike="noStrike" cap="none" normalizeH="0" baseline="0" dirty="0">
                <a:ln>
                  <a:noFill/>
                </a:ln>
                <a:solidFill>
                  <a:schemeClr val="tx1"/>
                </a:solidFill>
                <a:effectLst/>
                <a:latin typeface="Arial" panose="020B0604020202020204" pitchFamily="34" charset="0"/>
                <a:hlinkClick r:id="rId7"/>
              </a:rPr>
              <a:t>https://vitejs.dev/</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React Router Documentation — </a:t>
            </a:r>
            <a:r>
              <a:rPr kumimoji="0" lang="en-US" altLang="en-US" sz="2200" b="0" i="0" u="none" strike="noStrike" cap="none" normalizeH="0" baseline="0" dirty="0">
                <a:ln>
                  <a:noFill/>
                </a:ln>
                <a:solidFill>
                  <a:schemeClr val="tx1"/>
                </a:solidFill>
                <a:effectLst/>
                <a:latin typeface="Arial" panose="020B0604020202020204" pitchFamily="34" charset="0"/>
                <a:hlinkClick r:id="rId8"/>
              </a:rPr>
              <a:t>https://reactrouter.com/</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MDN Web Docs — </a:t>
            </a:r>
            <a:r>
              <a:rPr kumimoji="0" lang="en-US" altLang="en-US" sz="2200" b="0" i="0" u="none" strike="noStrike" cap="none" normalizeH="0" baseline="0" dirty="0">
                <a:ln>
                  <a:noFill/>
                </a:ln>
                <a:solidFill>
                  <a:schemeClr val="tx1"/>
                </a:solidFill>
                <a:effectLst/>
                <a:latin typeface="Arial" panose="020B0604020202020204" pitchFamily="34" charset="0"/>
                <a:hlinkClick r:id="rId9"/>
              </a:rPr>
              <a:t>https://developer.mozilla.org/</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OWASP Web Security Guidelines — </a:t>
            </a:r>
            <a:r>
              <a:rPr kumimoji="0" lang="en-US" altLang="en-US" sz="2200" b="0" i="0" u="none" strike="noStrike" cap="none" normalizeH="0" baseline="0" dirty="0">
                <a:ln>
                  <a:noFill/>
                </a:ln>
                <a:solidFill>
                  <a:schemeClr val="tx1"/>
                </a:solidFill>
                <a:effectLst/>
                <a:latin typeface="Arial" panose="020B0604020202020204" pitchFamily="34" charset="0"/>
                <a:hlinkClick r:id="rId10"/>
              </a:rPr>
              <a:t>https://owasp.org/</a:t>
            </a:r>
            <a:r>
              <a:rPr kumimoji="0" lang="en-US" altLang="en-US" sz="22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2132</TotalTime>
  <Words>792</Words>
  <Application>Microsoft Office PowerPoint</Application>
  <PresentationFormat>On-screen Show (4:3)</PresentationFormat>
  <Paragraphs>80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Calibri</vt:lpstr>
      <vt:lpstr>Times New Roman</vt:lpstr>
      <vt:lpstr>Office Theme</vt:lpstr>
      <vt:lpstr>  A Project Review Meeting    on  Student Grievance Redressal Portal </vt:lpstr>
      <vt:lpstr>Outline of the Presentation</vt:lpstr>
      <vt:lpstr>Abstract</vt:lpstr>
      <vt:lpstr>Introduction</vt:lpstr>
      <vt:lpstr>Problem Statement </vt:lpstr>
      <vt:lpstr>System Architecture</vt:lpstr>
      <vt:lpstr>Project Flow Diagram</vt:lpstr>
      <vt:lpstr>Objectives with Justification </vt:lpstr>
      <vt:lpstr>Modules [Frontend web pages]</vt:lpstr>
      <vt:lpstr>Modules [Frontend web pages]</vt:lpstr>
      <vt:lpstr>Modules [Frontend web pages]</vt:lpstr>
      <vt:lpstr>Modules [Frontend web pages]</vt:lpstr>
      <vt:lpstr>Modules [Frontend web pages]</vt:lpstr>
      <vt:lpstr>Modules [Frontend web pages]</vt:lpstr>
      <vt:lpstr>Modules [Frontend web pages]</vt:lpstr>
      <vt:lpstr>Modules [Frontend web pages]</vt:lpstr>
      <vt:lpstr>Modules [Frontend web pages]</vt:lpstr>
      <vt:lpstr>Modules [Frontend web pages]</vt:lpstr>
      <vt:lpstr>Modules [Frontend web pages]</vt:lpstr>
      <vt:lpstr>Co’s Mapping</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Manasvi P</cp:lastModifiedBy>
  <cp:revision>200</cp:revision>
  <dcterms:created xsi:type="dcterms:W3CDTF">2006-08-16T00:00:00Z</dcterms:created>
  <dcterms:modified xsi:type="dcterms:W3CDTF">2026-06-19T05:21:07Z</dcterms:modified>
</cp:coreProperties>
</file>